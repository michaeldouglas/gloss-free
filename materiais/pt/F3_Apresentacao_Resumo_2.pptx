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23"/>
  </p:notesMasterIdLst>
  <p:sldIdLst>
    <p:sldId id="256" r:id="rId5"/>
    <p:sldId id="301" r:id="rId6"/>
    <p:sldId id="392" r:id="rId7"/>
    <p:sldId id="396" r:id="rId8"/>
    <p:sldId id="395" r:id="rId9"/>
    <p:sldId id="387" r:id="rId10"/>
    <p:sldId id="386" r:id="rId11"/>
    <p:sldId id="352" r:id="rId12"/>
    <p:sldId id="383" r:id="rId13"/>
    <p:sldId id="393" r:id="rId14"/>
    <p:sldId id="353" r:id="rId15"/>
    <p:sldId id="391" r:id="rId16"/>
    <p:sldId id="370" r:id="rId17"/>
    <p:sldId id="388" r:id="rId18"/>
    <p:sldId id="394" r:id="rId19"/>
    <p:sldId id="389" r:id="rId20"/>
    <p:sldId id="376" r:id="rId21"/>
    <p:sldId id="287" r:id="rId22"/>
  </p:sldIdLst>
  <p:sldSz cx="9144000" cy="5143500" type="screen16x9"/>
  <p:notesSz cx="6858000" cy="9144000"/>
  <p:embeddedFontLst>
    <p:embeddedFont>
      <p:font typeface="Catamaran" panose="020B0604020202020204" charset="0"/>
      <p:regular r:id="rId24"/>
      <p:bold r:id="rId25"/>
    </p:embeddedFont>
    <p:embeddedFont>
      <p:font typeface="Catamaran Thin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6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6E0F5-23C3-8853-C93F-89726076B4C5}" v="517" dt="2025-04-30T14:56:17.843"/>
  </p1510:revLst>
</p1510:revInfo>
</file>

<file path=ppt/tableStyles.xml><?xml version="1.0" encoding="utf-8"?>
<a:tblStyleLst xmlns:a="http://schemas.openxmlformats.org/drawingml/2006/main" def="{AD908149-8ECA-4EA5-AFE4-CB02EED2FEE8}">
  <a:tblStyle styleId="{AD908149-8ECA-4EA5-AFE4-CB02EED2FE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Frazao Kleine" userId="e1df1562-00b9-4213-863a-d33aa04752ac" providerId="ADAL" clId="{17A773E8-52D6-4686-8FC6-A53F8155EDC4}"/>
    <pc:docChg chg="custSel addSld delSld modSld">
      <pc:chgData name="Felipe Augusto Frazao Kleine" userId="e1df1562-00b9-4213-863a-d33aa04752ac" providerId="ADAL" clId="{17A773E8-52D6-4686-8FC6-A53F8155EDC4}" dt="2025-04-30T16:58:31.335" v="28" actId="47"/>
      <pc:docMkLst>
        <pc:docMk/>
      </pc:docMkLst>
      <pc:sldChg chg="add del">
        <pc:chgData name="Felipe Augusto Frazao Kleine" userId="e1df1562-00b9-4213-863a-d33aa04752ac" providerId="ADAL" clId="{17A773E8-52D6-4686-8FC6-A53F8155EDC4}" dt="2025-04-30T16:57:38.045" v="26" actId="2696"/>
        <pc:sldMkLst>
          <pc:docMk/>
          <pc:sldMk cId="1397183106" sldId="378"/>
        </pc:sldMkLst>
      </pc:sldChg>
      <pc:sldChg chg="add del">
        <pc:chgData name="Felipe Augusto Frazao Kleine" userId="e1df1562-00b9-4213-863a-d33aa04752ac" providerId="ADAL" clId="{17A773E8-52D6-4686-8FC6-A53F8155EDC4}" dt="2025-04-30T16:58:31.335" v="28" actId="47"/>
        <pc:sldMkLst>
          <pc:docMk/>
          <pc:sldMk cId="2163651899" sldId="378"/>
        </pc:sldMkLst>
      </pc:sldChg>
      <pc:sldChg chg="modSp mod">
        <pc:chgData name="Felipe Augusto Frazao Kleine" userId="e1df1562-00b9-4213-863a-d33aa04752ac" providerId="ADAL" clId="{17A773E8-52D6-4686-8FC6-A53F8155EDC4}" dt="2025-04-30T16:52:15.467" v="2" actId="947"/>
        <pc:sldMkLst>
          <pc:docMk/>
          <pc:sldMk cId="1243009891" sldId="392"/>
        </pc:sldMkLst>
        <pc:spChg chg="mod">
          <ac:chgData name="Felipe Augusto Frazao Kleine" userId="e1df1562-00b9-4213-863a-d33aa04752ac" providerId="ADAL" clId="{17A773E8-52D6-4686-8FC6-A53F8155EDC4}" dt="2025-04-30T16:52:15.467" v="2" actId="947"/>
          <ac:spMkLst>
            <pc:docMk/>
            <pc:sldMk cId="1243009891" sldId="392"/>
            <ac:spMk id="6" creationId="{ED508F14-C224-C0D7-A6A9-B76290550C19}"/>
          </ac:spMkLst>
        </pc:spChg>
      </pc:sldChg>
      <pc:sldChg chg="addSp modSp add">
        <pc:chgData name="Felipe Augusto Frazao Kleine" userId="e1df1562-00b9-4213-863a-d33aa04752ac" providerId="ADAL" clId="{17A773E8-52D6-4686-8FC6-A53F8155EDC4}" dt="2025-04-30T16:53:25.722" v="8"/>
        <pc:sldMkLst>
          <pc:docMk/>
          <pc:sldMk cId="3701054023" sldId="395"/>
        </pc:sldMkLst>
        <pc:spChg chg="add mod">
          <ac:chgData name="Felipe Augusto Frazao Kleine" userId="e1df1562-00b9-4213-863a-d33aa04752ac" providerId="ADAL" clId="{17A773E8-52D6-4686-8FC6-A53F8155EDC4}" dt="2025-04-30T16:53:25.722" v="8"/>
          <ac:spMkLst>
            <pc:docMk/>
            <pc:sldMk cId="3701054023" sldId="395"/>
            <ac:spMk id="6" creationId="{9C811FFC-4870-9AA8-E37B-9931F8DD24B5}"/>
          </ac:spMkLst>
        </pc:spChg>
      </pc:sldChg>
      <pc:sldChg chg="addSp delSp modSp add mod">
        <pc:chgData name="Felipe Augusto Frazao Kleine" userId="e1df1562-00b9-4213-863a-d33aa04752ac" providerId="ADAL" clId="{17A773E8-52D6-4686-8FC6-A53F8155EDC4}" dt="2025-04-30T16:53:34.303" v="24" actId="1035"/>
        <pc:sldMkLst>
          <pc:docMk/>
          <pc:sldMk cId="1732750998" sldId="396"/>
        </pc:sldMkLst>
        <pc:spChg chg="add del mod">
          <ac:chgData name="Felipe Augusto Frazao Kleine" userId="e1df1562-00b9-4213-863a-d33aa04752ac" providerId="ADAL" clId="{17A773E8-52D6-4686-8FC6-A53F8155EDC4}" dt="2025-04-30T16:53:22.992" v="6" actId="478"/>
          <ac:spMkLst>
            <pc:docMk/>
            <pc:sldMk cId="1732750998" sldId="396"/>
            <ac:spMk id="4" creationId="{B5500F7E-6A5A-EE24-A70C-3F46CFC1F8AC}"/>
          </ac:spMkLst>
        </pc:spChg>
        <pc:spChg chg="add mod">
          <ac:chgData name="Felipe Augusto Frazao Kleine" userId="e1df1562-00b9-4213-863a-d33aa04752ac" providerId="ADAL" clId="{17A773E8-52D6-4686-8FC6-A53F8155EDC4}" dt="2025-04-30T16:53:23.326" v="7"/>
          <ac:spMkLst>
            <pc:docMk/>
            <pc:sldMk cId="1732750998" sldId="396"/>
            <ac:spMk id="5" creationId="{7E3149D4-CB4D-EC2E-57C1-E74051C21C6D}"/>
          </ac:spMkLst>
        </pc:spChg>
        <pc:spChg chg="mod">
          <ac:chgData name="Felipe Augusto Frazao Kleine" userId="e1df1562-00b9-4213-863a-d33aa04752ac" providerId="ADAL" clId="{17A773E8-52D6-4686-8FC6-A53F8155EDC4}" dt="2025-04-30T16:53:34.303" v="24" actId="1035"/>
          <ac:spMkLst>
            <pc:docMk/>
            <pc:sldMk cId="1732750998" sldId="396"/>
            <ac:spMk id="6" creationId="{FF371C94-7BBC-DB51-1B7F-7655B161F3FB}"/>
          </ac:spMkLst>
        </pc:spChg>
        <pc:spChg chg="del">
          <ac:chgData name="Felipe Augusto Frazao Kleine" userId="e1df1562-00b9-4213-863a-d33aa04752ac" providerId="ADAL" clId="{17A773E8-52D6-4686-8FC6-A53F8155EDC4}" dt="2025-04-30T16:53:20.159" v="5" actId="478"/>
          <ac:spMkLst>
            <pc:docMk/>
            <pc:sldMk cId="1732750998" sldId="396"/>
            <ac:spMk id="15" creationId="{C0A92344-50C8-4CFC-AC08-4697B9811913}"/>
          </ac:spMkLst>
        </pc:spChg>
        <pc:picChg chg="mod">
          <ac:chgData name="Felipe Augusto Frazao Kleine" userId="e1df1562-00b9-4213-863a-d33aa04752ac" providerId="ADAL" clId="{17A773E8-52D6-4686-8FC6-A53F8155EDC4}" dt="2025-04-30T16:53:34.303" v="24" actId="1035"/>
          <ac:picMkLst>
            <pc:docMk/>
            <pc:sldMk cId="1732750998" sldId="396"/>
            <ac:picMk id="3" creationId="{A7069AAB-C084-1EB5-A143-479933E28FF9}"/>
          </ac:picMkLst>
        </pc:picChg>
      </pc:sldChg>
    </pc:docChg>
  </pc:docChgLst>
  <pc:docChgLst>
    <pc:chgData name="Fabio Rogerio Lins Pereira de Souza" userId="S::fsouza@ipt.br::524323d2-3617-46c6-855b-09bc2364a38d" providerId="AD" clId="Web-{CB56E0F5-23C3-8853-C93F-89726076B4C5}"/>
    <pc:docChg chg="addSld modSld">
      <pc:chgData name="Fabio Rogerio Lins Pereira de Souza" userId="S::fsouza@ipt.br::524323d2-3617-46c6-855b-09bc2364a38d" providerId="AD" clId="Web-{CB56E0F5-23C3-8853-C93F-89726076B4C5}" dt="2025-04-30T14:56:17.843" v="274" actId="20577"/>
      <pc:docMkLst>
        <pc:docMk/>
      </pc:docMkLst>
      <pc:sldChg chg="modSp">
        <pc:chgData name="Fabio Rogerio Lins Pereira de Souza" userId="S::fsouza@ipt.br::524323d2-3617-46c6-855b-09bc2364a38d" providerId="AD" clId="Web-{CB56E0F5-23C3-8853-C93F-89726076B4C5}" dt="2025-04-30T14:56:17.843" v="274" actId="20577"/>
        <pc:sldMkLst>
          <pc:docMk/>
          <pc:sldMk cId="684715481" sldId="376"/>
        </pc:sldMkLst>
        <pc:spChg chg="mod">
          <ac:chgData name="Fabio Rogerio Lins Pereira de Souza" userId="S::fsouza@ipt.br::524323d2-3617-46c6-855b-09bc2364a38d" providerId="AD" clId="Web-{CB56E0F5-23C3-8853-C93F-89726076B4C5}" dt="2025-04-30T14:56:17.843" v="274" actId="20577"/>
          <ac:spMkLst>
            <pc:docMk/>
            <pc:sldMk cId="684715481" sldId="376"/>
            <ac:spMk id="2" creationId="{94EAB208-6CF2-3024-1C83-C9C2120EA3DF}"/>
          </ac:spMkLst>
        </pc:spChg>
      </pc:sldChg>
      <pc:sldChg chg="addSp delSp modSp add replId">
        <pc:chgData name="Fabio Rogerio Lins Pereira de Souza" userId="S::fsouza@ipt.br::524323d2-3617-46c6-855b-09bc2364a38d" providerId="AD" clId="Web-{CB56E0F5-23C3-8853-C93F-89726076B4C5}" dt="2025-04-30T14:47:18.292" v="100" actId="20577"/>
        <pc:sldMkLst>
          <pc:docMk/>
          <pc:sldMk cId="3024802726" sldId="393"/>
        </pc:sldMkLst>
        <pc:spChg chg="mod">
          <ac:chgData name="Fabio Rogerio Lins Pereira de Souza" userId="S::fsouza@ipt.br::524323d2-3617-46c6-855b-09bc2364a38d" providerId="AD" clId="Web-{CB56E0F5-23C3-8853-C93F-89726076B4C5}" dt="2025-04-30T14:47:18.292" v="100" actId="20577"/>
          <ac:spMkLst>
            <pc:docMk/>
            <pc:sldMk cId="3024802726" sldId="393"/>
            <ac:spMk id="2" creationId="{F92A1DBF-3511-B550-C8B9-FE2FA0DEC273}"/>
          </ac:spMkLst>
        </pc:spChg>
        <pc:picChg chg="add mod">
          <ac:chgData name="Fabio Rogerio Lins Pereira de Souza" userId="S::fsouza@ipt.br::524323d2-3617-46c6-855b-09bc2364a38d" providerId="AD" clId="Web-{CB56E0F5-23C3-8853-C93F-89726076B4C5}" dt="2025-04-30T14:47:06.620" v="98" actId="1076"/>
          <ac:picMkLst>
            <pc:docMk/>
            <pc:sldMk cId="3024802726" sldId="393"/>
            <ac:picMk id="3" creationId="{67896E31-2F31-F5B9-592A-5C522798D0F5}"/>
          </ac:picMkLst>
        </pc:picChg>
        <pc:picChg chg="del">
          <ac:chgData name="Fabio Rogerio Lins Pereira de Souza" userId="S::fsouza@ipt.br::524323d2-3617-46c6-855b-09bc2364a38d" providerId="AD" clId="Web-{CB56E0F5-23C3-8853-C93F-89726076B4C5}" dt="2025-04-30T14:37:49.865" v="1"/>
          <ac:picMkLst>
            <pc:docMk/>
            <pc:sldMk cId="3024802726" sldId="393"/>
            <ac:picMk id="4" creationId="{BFE92A92-AA29-7423-5343-E9EFB4676BF9}"/>
          </ac:picMkLst>
        </pc:picChg>
      </pc:sldChg>
      <pc:sldChg chg="addSp delSp modSp add replId">
        <pc:chgData name="Fabio Rogerio Lins Pereira de Souza" userId="S::fsouza@ipt.br::524323d2-3617-46c6-855b-09bc2364a38d" providerId="AD" clId="Web-{CB56E0F5-23C3-8853-C93F-89726076B4C5}" dt="2025-04-30T14:50:39.877" v="165" actId="1076"/>
        <pc:sldMkLst>
          <pc:docMk/>
          <pc:sldMk cId="2070377932" sldId="394"/>
        </pc:sldMkLst>
        <pc:spChg chg="add mod">
          <ac:chgData name="Fabio Rogerio Lins Pereira de Souza" userId="S::fsouza@ipt.br::524323d2-3617-46c6-855b-09bc2364a38d" providerId="AD" clId="Web-{CB56E0F5-23C3-8853-C93F-89726076B4C5}" dt="2025-04-30T14:50:34.705" v="162" actId="20577"/>
          <ac:spMkLst>
            <pc:docMk/>
            <pc:sldMk cId="2070377932" sldId="394"/>
            <ac:spMk id="3" creationId="{2D056E8A-4502-8FC0-4550-A7F8CFD0CD3E}"/>
          </ac:spMkLst>
        </pc:spChg>
        <pc:picChg chg="del">
          <ac:chgData name="Fabio Rogerio Lins Pereira de Souza" userId="S::fsouza@ipt.br::524323d2-3617-46c6-855b-09bc2364a38d" providerId="AD" clId="Web-{CB56E0F5-23C3-8853-C93F-89726076B4C5}" dt="2025-04-30T14:47:40.058" v="102"/>
          <ac:picMkLst>
            <pc:docMk/>
            <pc:sldMk cId="2070377932" sldId="394"/>
            <ac:picMk id="4" creationId="{0819B016-18FA-50E4-CEDF-4EBF51023E19}"/>
          </ac:picMkLst>
        </pc:picChg>
        <pc:picChg chg="add mod">
          <ac:chgData name="Fabio Rogerio Lins Pereira de Souza" userId="S::fsouza@ipt.br::524323d2-3617-46c6-855b-09bc2364a38d" providerId="AD" clId="Web-{CB56E0F5-23C3-8853-C93F-89726076B4C5}" dt="2025-04-30T14:50:39.877" v="165" actId="1076"/>
          <ac:picMkLst>
            <pc:docMk/>
            <pc:sldMk cId="2070377932" sldId="394"/>
            <ac:picMk id="5" creationId="{5CFF1BAE-5FE0-AD2E-D4E7-417559BFE0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225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0CF12258-C159-F4CA-C252-0126A8414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C171EFD1-DEE4-8E03-4AA8-39F5E8D57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76000A4D-A7CF-BE42-58DF-1D1B259DE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934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225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635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9AA901F1-6D12-333D-81D2-E7C48289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06FBE088-9761-E699-03B8-2BB108D68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DE0D7E17-7CA7-EEBA-AA75-A7B88DB91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949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B272D4DC-4EA4-0A09-88D1-C735F52E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F6D2D53B-7D08-59AA-2A2F-21BB418A1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852583E6-B38F-AAE4-A2AC-34827E5EE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00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367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73C44413-DEAB-1F93-6B54-05197A35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94D1C602-4B87-C5E0-2AD6-3E5230EAE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56A0B253-C9BA-3171-948F-323832E06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682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0D85FE46-DB06-15AA-E429-15994702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F15E0D04-2BD2-D231-2B93-A77FE2F84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5010DDCB-98DE-63D0-0D8C-AD15231F1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441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38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38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479CC8D9-5A40-A10A-ED26-4BD0C4060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BF211A8F-7ED9-AE96-46D3-C989DF987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1F718841-36C5-C481-A0FF-3FC53D94A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426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B19AF45C-BD05-D33E-852E-CDAA9A9F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CA172FA8-63BF-D695-0374-8284B13CD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D376F0B6-83D3-FDA0-E16E-A124F1202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853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C16DC323-250B-7B3F-A1E1-89A7D9BE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CC4BF1D9-E372-5760-F13D-30B770211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256BF989-A88B-16C9-7A2C-84D25DA13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783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E165E8F2-B036-5F65-C388-A2E61A08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258C9712-F0EA-89EC-7CEF-D763143B6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E18AAAA2-FFB1-8CFB-2BDE-52A923C1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393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>
          <a:extLst>
            <a:ext uri="{FF2B5EF4-FFF2-40B4-BE49-F238E27FC236}">
              <a16:creationId xmlns:a16="http://schemas.microsoft.com/office/drawing/2014/main" id="{6BC40E5F-AE2A-1047-F490-B5A7457D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5f391192_017:notes">
            <a:extLst>
              <a:ext uri="{FF2B5EF4-FFF2-40B4-BE49-F238E27FC236}">
                <a16:creationId xmlns:a16="http://schemas.microsoft.com/office/drawing/2014/main" id="{A4D722CD-6614-5A99-9174-15CAED0F0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5f391192_017:notes">
            <a:extLst>
              <a:ext uri="{FF2B5EF4-FFF2-40B4-BE49-F238E27FC236}">
                <a16:creationId xmlns:a16="http://schemas.microsoft.com/office/drawing/2014/main" id="{95DDABCE-F829-1F18-14CA-7AD87209C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200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55300" y="1115325"/>
            <a:ext cx="7433400" cy="135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3" name="Google Shape;59;p8">
            <a:extLst>
              <a:ext uri="{FF2B5EF4-FFF2-40B4-BE49-F238E27FC236}">
                <a16:creationId xmlns:a16="http://schemas.microsoft.com/office/drawing/2014/main" id="{73BFBB83-BA5B-41DE-874E-654B988A1E46}"/>
              </a:ext>
            </a:extLst>
          </p:cNvPr>
          <p:cNvSpPr/>
          <p:nvPr userDrawn="1"/>
        </p:nvSpPr>
        <p:spPr>
          <a:xfrm>
            <a:off x="7356366" y="4184039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0;p8">
            <a:extLst>
              <a:ext uri="{FF2B5EF4-FFF2-40B4-BE49-F238E27FC236}">
                <a16:creationId xmlns:a16="http://schemas.microsoft.com/office/drawing/2014/main" id="{7078A84C-ECDA-4CA9-8519-A58F7DCE89EE}"/>
              </a:ext>
            </a:extLst>
          </p:cNvPr>
          <p:cNvSpPr/>
          <p:nvPr userDrawn="1"/>
        </p:nvSpPr>
        <p:spPr>
          <a:xfrm>
            <a:off x="8250312" y="4184039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1;p8">
            <a:extLst>
              <a:ext uri="{FF2B5EF4-FFF2-40B4-BE49-F238E27FC236}">
                <a16:creationId xmlns:a16="http://schemas.microsoft.com/office/drawing/2014/main" id="{2842AE57-2BB1-4BF7-A5EE-A7E7E0143FA5}"/>
              </a:ext>
            </a:extLst>
          </p:cNvPr>
          <p:cNvSpPr/>
          <p:nvPr userDrawn="1"/>
        </p:nvSpPr>
        <p:spPr>
          <a:xfrm>
            <a:off x="0" y="4184039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2;p8">
            <a:extLst>
              <a:ext uri="{FF2B5EF4-FFF2-40B4-BE49-F238E27FC236}">
                <a16:creationId xmlns:a16="http://schemas.microsoft.com/office/drawing/2014/main" id="{E5A3C351-92E3-4838-B098-3E3D817BEB6B}"/>
              </a:ext>
            </a:extLst>
          </p:cNvPr>
          <p:cNvSpPr/>
          <p:nvPr userDrawn="1"/>
        </p:nvSpPr>
        <p:spPr>
          <a:xfrm>
            <a:off x="893710" y="4184039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40527" y="1931843"/>
            <a:ext cx="4862946" cy="135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63" name="Google Shape;59;p8">
            <a:extLst>
              <a:ext uri="{FF2B5EF4-FFF2-40B4-BE49-F238E27FC236}">
                <a16:creationId xmlns:a16="http://schemas.microsoft.com/office/drawing/2014/main" id="{73BFBB83-BA5B-41DE-874E-654B988A1E46}"/>
              </a:ext>
            </a:extLst>
          </p:cNvPr>
          <p:cNvSpPr/>
          <p:nvPr userDrawn="1"/>
        </p:nvSpPr>
        <p:spPr>
          <a:xfrm>
            <a:off x="7356366" y="4184039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0;p8">
            <a:extLst>
              <a:ext uri="{FF2B5EF4-FFF2-40B4-BE49-F238E27FC236}">
                <a16:creationId xmlns:a16="http://schemas.microsoft.com/office/drawing/2014/main" id="{7078A84C-ECDA-4CA9-8519-A58F7DCE89EE}"/>
              </a:ext>
            </a:extLst>
          </p:cNvPr>
          <p:cNvSpPr/>
          <p:nvPr userDrawn="1"/>
        </p:nvSpPr>
        <p:spPr>
          <a:xfrm>
            <a:off x="8250312" y="4184039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1;p8">
            <a:extLst>
              <a:ext uri="{FF2B5EF4-FFF2-40B4-BE49-F238E27FC236}">
                <a16:creationId xmlns:a16="http://schemas.microsoft.com/office/drawing/2014/main" id="{2842AE57-2BB1-4BF7-A5EE-A7E7E0143FA5}"/>
              </a:ext>
            </a:extLst>
          </p:cNvPr>
          <p:cNvSpPr/>
          <p:nvPr userDrawn="1"/>
        </p:nvSpPr>
        <p:spPr>
          <a:xfrm>
            <a:off x="0" y="4184039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2;p8">
            <a:extLst>
              <a:ext uri="{FF2B5EF4-FFF2-40B4-BE49-F238E27FC236}">
                <a16:creationId xmlns:a16="http://schemas.microsoft.com/office/drawing/2014/main" id="{E5A3C351-92E3-4838-B098-3E3D817BEB6B}"/>
              </a:ext>
            </a:extLst>
          </p:cNvPr>
          <p:cNvSpPr/>
          <p:nvPr userDrawn="1"/>
        </p:nvSpPr>
        <p:spPr>
          <a:xfrm>
            <a:off x="893710" y="4184039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m 6" descr="Uma imagem contendo Forma&#10;&#10;Descrição gerada automaticamente">
            <a:extLst>
              <a:ext uri="{FF2B5EF4-FFF2-40B4-BE49-F238E27FC236}">
                <a16:creationId xmlns:a16="http://schemas.microsoft.com/office/drawing/2014/main" id="{050D5137-5D8F-4F19-8E67-AEE52F2028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5351"/>
          <a:stretch/>
        </p:blipFill>
        <p:spPr>
          <a:xfrm>
            <a:off x="9669" y="-101"/>
            <a:ext cx="1223386" cy="4123198"/>
          </a:xfrm>
          <a:prstGeom prst="rect">
            <a:avLst/>
          </a:prstGeom>
        </p:spPr>
      </p:pic>
      <p:pic>
        <p:nvPicPr>
          <p:cNvPr id="8" name="Imagem 7" descr="Imagem em preto e branco&#10;&#10;Descrição gerada automaticamente com confiança média">
            <a:extLst>
              <a:ext uri="{FF2B5EF4-FFF2-40B4-BE49-F238E27FC236}">
                <a16:creationId xmlns:a16="http://schemas.microsoft.com/office/drawing/2014/main" id="{8ACF37FC-FA5E-4FC5-AA76-20A0D15399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9998" y="0"/>
            <a:ext cx="1204333" cy="2571750"/>
          </a:xfrm>
          <a:prstGeom prst="rect">
            <a:avLst/>
          </a:prstGeom>
        </p:spPr>
      </p:pic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C352D400-2195-4512-BD72-7EFEA02EE9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69" y="4346022"/>
            <a:ext cx="881846" cy="79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;p3">
            <a:extLst>
              <a:ext uri="{FF2B5EF4-FFF2-40B4-BE49-F238E27FC236}">
                <a16:creationId xmlns:a16="http://schemas.microsoft.com/office/drawing/2014/main" id="{0D6F013C-5BC7-4998-83A6-573639E52386}"/>
              </a:ext>
            </a:extLst>
          </p:cNvPr>
          <p:cNvSpPr/>
          <p:nvPr userDrawn="1"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m 8" descr="Forma&#10;&#10;Descrição gerada automaticamente">
            <a:extLst>
              <a:ext uri="{FF2B5EF4-FFF2-40B4-BE49-F238E27FC236}">
                <a16:creationId xmlns:a16="http://schemas.microsoft.com/office/drawing/2014/main" id="{C352D400-2195-4512-BD72-7EFEA02EE9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9" y="4346022"/>
            <a:ext cx="881846" cy="797478"/>
          </a:xfrm>
          <a:prstGeom prst="rect">
            <a:avLst/>
          </a:prstGeom>
        </p:spPr>
      </p:pic>
      <p:sp>
        <p:nvSpPr>
          <p:cNvPr id="12" name="Google Shape;17;p3">
            <a:extLst>
              <a:ext uri="{FF2B5EF4-FFF2-40B4-BE49-F238E27FC236}">
                <a16:creationId xmlns:a16="http://schemas.microsoft.com/office/drawing/2014/main" id="{5D276984-BA63-478A-A385-491AF2FB8A5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8;p3">
            <a:extLst>
              <a:ext uri="{FF2B5EF4-FFF2-40B4-BE49-F238E27FC236}">
                <a16:creationId xmlns:a16="http://schemas.microsoft.com/office/drawing/2014/main" id="{703A97E3-892F-4740-83AE-566F32C947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9;p3">
            <a:extLst>
              <a:ext uri="{FF2B5EF4-FFF2-40B4-BE49-F238E27FC236}">
                <a16:creationId xmlns:a16="http://schemas.microsoft.com/office/drawing/2014/main" id="{7526D983-4E14-46DF-98C4-4FC491CA4040}"/>
              </a:ext>
            </a:extLst>
          </p:cNvPr>
          <p:cNvSpPr/>
          <p:nvPr userDrawn="1"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;p3">
            <a:extLst>
              <a:ext uri="{FF2B5EF4-FFF2-40B4-BE49-F238E27FC236}">
                <a16:creationId xmlns:a16="http://schemas.microsoft.com/office/drawing/2014/main" id="{92F70D18-C1F0-4FE0-A96F-8A5F3FB591E4}"/>
              </a:ext>
            </a:extLst>
          </p:cNvPr>
          <p:cNvSpPr/>
          <p:nvPr userDrawn="1"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1;p3">
            <a:extLst>
              <a:ext uri="{FF2B5EF4-FFF2-40B4-BE49-F238E27FC236}">
                <a16:creationId xmlns:a16="http://schemas.microsoft.com/office/drawing/2014/main" id="{4108E190-557A-4E8F-A2B4-28D4B709CA02}"/>
              </a:ext>
            </a:extLst>
          </p:cNvPr>
          <p:cNvSpPr/>
          <p:nvPr userDrawn="1"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71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6"/>
          <p:cNvSpPr txBox="1">
            <a:spLocks noGrp="1"/>
          </p:cNvSpPr>
          <p:nvPr>
            <p:ph type="body" idx="1"/>
          </p:nvPr>
        </p:nvSpPr>
        <p:spPr>
          <a:xfrm>
            <a:off x="1241825" y="1125350"/>
            <a:ext cx="3111900" cy="27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0" name="Google Shape;320;p6"/>
          <p:cNvSpPr txBox="1">
            <a:spLocks noGrp="1"/>
          </p:cNvSpPr>
          <p:nvPr>
            <p:ph type="body" idx="2"/>
          </p:nvPr>
        </p:nvSpPr>
        <p:spPr>
          <a:xfrm>
            <a:off x="4790250" y="1125350"/>
            <a:ext cx="3111900" cy="27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1" name="Google Shape;321;p6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79" name="Imagem 78" descr="Uma imagem contendo Forma&#10;&#10;Descrição gerada automaticamente">
            <a:extLst>
              <a:ext uri="{FF2B5EF4-FFF2-40B4-BE49-F238E27FC236}">
                <a16:creationId xmlns:a16="http://schemas.microsoft.com/office/drawing/2014/main" id="{4BB8DD03-756F-4D0B-9A51-E46B515D25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</a:blip>
          <a:srcRect b="35351"/>
          <a:stretch/>
        </p:blipFill>
        <p:spPr>
          <a:xfrm>
            <a:off x="9669" y="-101"/>
            <a:ext cx="676249" cy="2279174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pic>
        <p:nvPicPr>
          <p:cNvPr id="80" name="Imagem 79" descr="Imagem em preto e branco&#10;&#10;Descrição gerada automaticamente com confiança média">
            <a:extLst>
              <a:ext uri="{FF2B5EF4-FFF2-40B4-BE49-F238E27FC236}">
                <a16:creationId xmlns:a16="http://schemas.microsoft.com/office/drawing/2014/main" id="{E87F14A1-C07F-4DBD-956B-BD85352286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3000"/>
          </a:blip>
          <a:stretch>
            <a:fillRect/>
          </a:stretch>
        </p:blipFill>
        <p:spPr>
          <a:xfrm>
            <a:off x="8530948" y="0"/>
            <a:ext cx="603383" cy="1288473"/>
          </a:xfrm>
          <a:prstGeom prst="rect">
            <a:avLst/>
          </a:prstGeom>
        </p:spPr>
      </p:pic>
      <p:pic>
        <p:nvPicPr>
          <p:cNvPr id="81" name="Imagem 80" descr="Forma&#10;&#10;Descrição gerada automaticamente">
            <a:extLst>
              <a:ext uri="{FF2B5EF4-FFF2-40B4-BE49-F238E27FC236}">
                <a16:creationId xmlns:a16="http://schemas.microsoft.com/office/drawing/2014/main" id="{321A1A9A-7658-4AD3-997F-1E1DDA697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43000"/>
          </a:blip>
          <a:stretch>
            <a:fillRect/>
          </a:stretch>
        </p:blipFill>
        <p:spPr>
          <a:xfrm>
            <a:off x="9669" y="4346022"/>
            <a:ext cx="881846" cy="7974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 preserve="1">
  <p:cSld name="1_Completely Blank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22944B-7B69-4F4F-B5C4-D67010ED787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Ícone&#10;&#10;Descrição gerada automaticamente com confiança média">
            <a:extLst>
              <a:ext uri="{FF2B5EF4-FFF2-40B4-BE49-F238E27FC236}">
                <a16:creationId xmlns:a16="http://schemas.microsoft.com/office/drawing/2014/main" id="{15D83287-9A89-4551-A5AA-A1C35FD85D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31106" y="2106929"/>
            <a:ext cx="2081788" cy="9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 preserve="1">
  <p:cSld name="1_Completely Blank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22944B-7B69-4F4F-B5C4-D67010ED787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Ícone&#10;&#10;Descrição gerada automaticamente com confiança média">
            <a:extLst>
              <a:ext uri="{FF2B5EF4-FFF2-40B4-BE49-F238E27FC236}">
                <a16:creationId xmlns:a16="http://schemas.microsoft.com/office/drawing/2014/main" id="{15D83287-9A89-4551-A5AA-A1C35FD85D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6513" y="4313778"/>
            <a:ext cx="1040894" cy="46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3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 preserve="1">
  <p:cSld name="1_Completely Blank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22944B-7B69-4F4F-B5C4-D67010ED7879}"/>
              </a:ext>
            </a:extLst>
          </p:cNvPr>
          <p:cNvSpPr/>
          <p:nvPr userDrawn="1"/>
        </p:nvSpPr>
        <p:spPr>
          <a:xfrm>
            <a:off x="0" y="-80920"/>
            <a:ext cx="9144000" cy="53781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30893484-2F74-4BB7-8F6C-F2E3B383DA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2175" y="4470688"/>
            <a:ext cx="833116" cy="49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4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 rotWithShape="1">
          <a:gsLst>
            <a:gs pos="0">
              <a:schemeClr val="tx1"/>
            </a:gs>
            <a:gs pos="87000">
              <a:schemeClr val="tx1"/>
            </a:gs>
            <a:gs pos="100000">
              <a:schemeClr val="accent3">
                <a:lumMod val="20000"/>
                <a:lumOff val="8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B57370DB-E89E-4308-8047-BB49B85F1CA0}"/>
              </a:ext>
            </a:extLst>
          </p:cNvPr>
          <p:cNvSpPr/>
          <p:nvPr userDrawn="1"/>
        </p:nvSpPr>
        <p:spPr>
          <a:xfrm>
            <a:off x="7356310" y="1898074"/>
            <a:ext cx="1787690" cy="3240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41875" y="1125350"/>
            <a:ext cx="6660300" cy="29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tamaran Thin"/>
              <a:buChar char="▹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tamaran Thin"/>
              <a:buChar char="▸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413799"/>
            <a:ext cx="5487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3252D37A-6986-4D6B-93B6-65436750392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02175" y="4470688"/>
            <a:ext cx="833116" cy="496167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  <p:sldLayoutId id="2147483663" r:id="rId3"/>
    <p:sldLayoutId id="2147483652" r:id="rId4"/>
    <p:sldLayoutId id="2147483660" r:id="rId5"/>
    <p:sldLayoutId id="2147483662" r:id="rId6"/>
    <p:sldLayoutId id="2147483661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2"/>
          <p:cNvSpPr txBox="1">
            <a:spLocks noGrp="1"/>
          </p:cNvSpPr>
          <p:nvPr>
            <p:ph type="ctrTitle"/>
          </p:nvPr>
        </p:nvSpPr>
        <p:spPr>
          <a:xfrm>
            <a:off x="855300" y="229089"/>
            <a:ext cx="7433400" cy="135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CCD-TAAL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0A42BCC-449A-573A-807F-B105F5089551}"/>
              </a:ext>
            </a:extLst>
          </p:cNvPr>
          <p:cNvSpPr txBox="1">
            <a:spLocks/>
          </p:cNvSpPr>
          <p:nvPr/>
        </p:nvSpPr>
        <p:spPr>
          <a:xfrm>
            <a:off x="754698" y="1634510"/>
            <a:ext cx="7634604" cy="98476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400" dirty="0"/>
              <a:t>Vagner Luiz Gava – IPT</a:t>
            </a:r>
          </a:p>
          <a:p>
            <a:endParaRPr lang="pt-BR" sz="2400" dirty="0"/>
          </a:p>
          <a:p>
            <a:r>
              <a:rPr lang="pt-BR" sz="2400" b="1" dirty="0"/>
              <a:t>ANÁLISE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6" name="Subtítulo 4">
            <a:extLst>
              <a:ext uri="{FF2B5EF4-FFF2-40B4-BE49-F238E27FC236}">
                <a16:creationId xmlns:a16="http://schemas.microsoft.com/office/drawing/2014/main" id="{96C7E9E9-C9D1-87E0-5FA5-9A13E755E426}"/>
              </a:ext>
            </a:extLst>
          </p:cNvPr>
          <p:cNvSpPr txBox="1">
            <a:spLocks/>
          </p:cNvSpPr>
          <p:nvPr/>
        </p:nvSpPr>
        <p:spPr>
          <a:xfrm>
            <a:off x="754698" y="3689645"/>
            <a:ext cx="1642139" cy="49238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b="1" dirty="0"/>
              <a:t>Data:30/04/2025</a:t>
            </a:r>
            <a:endParaRPr lang="pt-BR" sz="2400" dirty="0"/>
          </a:p>
          <a:p>
            <a:endParaRPr lang="pt-B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/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0A92344-50C8-4CFC-AC08-4697B9811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1. Introdução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371C94-7BBC-DB51-1B7F-7655B161F3FB}"/>
              </a:ext>
            </a:extLst>
          </p:cNvPr>
          <p:cNvSpPr txBox="1"/>
          <p:nvPr/>
        </p:nvSpPr>
        <p:spPr>
          <a:xfrm>
            <a:off x="950928" y="1237664"/>
            <a:ext cx="806145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Sign2gloss2text (</a:t>
            </a:r>
            <a:r>
              <a:rPr lang="pt-BR" sz="1600" b="1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S2G2T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), que reconhece o vídeo em língua de sinais como anotações de glosas primeiro e então traduz a glosa em texto em língua falada,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pt-BR" sz="1600" b="0" i="0" u="none" strike="noStrike" baseline="0" noProof="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Sign2text (</a:t>
            </a:r>
            <a:r>
              <a:rPr lang="pt-BR" sz="1600" b="1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S2T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), que gera diretamente o texto em língua falada do vídeo em linguagem de sinais de ponta a ponta,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pt-BR" sz="1600" b="0" i="0" u="none" strike="noStrike" baseline="0" noProof="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Sign2(</a:t>
            </a:r>
            <a:r>
              <a:rPr lang="pt-BR" sz="1600" noProof="0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gloss+text</a:t>
            </a:r>
            <a:r>
              <a:rPr lang="pt-BR" sz="160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 (</a:t>
            </a:r>
            <a:r>
              <a:rPr lang="pt-BR" sz="1600" b="1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S2(G+T)</a:t>
            </a:r>
            <a:r>
              <a:rPr lang="pt-BR" sz="160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), que realiza multitarefas ao emitir glosas e texto e pode usar glosas externas como sinais de supervisão 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e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pt-BR" sz="1600" b="0" i="0" u="none" strike="noStrike" baseline="0" noProof="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Gloss2text (</a:t>
            </a:r>
            <a:r>
              <a:rPr lang="pt-BR" sz="1600" b="1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G2T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), que pode refletir o desempenho da tradução da sequência de glosas para o texto.</a:t>
            </a:r>
            <a:endParaRPr lang="pt-BR" sz="160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457200" algn="l" rtl="0" latinLnBrk="0">
              <a:spcBef>
                <a:spcPts val="0"/>
              </a:spcBef>
              <a:spcAft>
                <a:spcPts val="0"/>
              </a:spcAft>
            </a:pPr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78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7B3CBF94-D16C-1705-2E00-D8C8E2FF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EC488F28-CBB2-1576-F814-F9AFD3FB03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666960DE-53DB-B3DB-0502-6BE488FAB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1. Introdução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508F14-C224-C0D7-A6A9-B76290550C19}"/>
              </a:ext>
            </a:extLst>
          </p:cNvPr>
          <p:cNvSpPr txBox="1"/>
          <p:nvPr/>
        </p:nvSpPr>
        <p:spPr>
          <a:xfrm>
            <a:off x="950928" y="1237664"/>
            <a:ext cx="80614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18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Text2gloss2Sign (</a:t>
            </a:r>
            <a:r>
              <a:rPr lang="pt-BR" sz="1600" b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T</a:t>
            </a:r>
            <a:r>
              <a:rPr lang="pt-BR" sz="1600" b="1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2G2S</a:t>
            </a: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), que traduz texto em 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língua</a:t>
            </a: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falada para anotações de glosa e vídeo em linguagem de sinais</a:t>
            </a: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e</a:t>
            </a:r>
            <a:endParaRPr lang="pt-BR" sz="1600" b="0" i="0" u="none" baseline="0" noProof="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pt-BR" sz="1600" b="0" i="0" u="none" baseline="0" noProof="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Text2gloss (</a:t>
            </a:r>
            <a:r>
              <a:rPr lang="pt-BR" sz="1600" b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T</a:t>
            </a:r>
            <a:r>
              <a:rPr lang="pt-BR" sz="1600" b="1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2G</a:t>
            </a: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), que gera diretamente 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língua</a:t>
            </a: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falada em </a:t>
            </a:r>
            <a:r>
              <a:rPr lang="pt-BR" sz="1600" b="0" i="0" u="none" strike="noStrik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língua</a:t>
            </a:r>
            <a:r>
              <a:rPr lang="pt-BR" sz="1600" b="0" i="0" u="none" baseline="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de sinais ponta a ponta.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pt-BR" sz="1600" b="0" i="0" u="none" baseline="0" noProof="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457200" algn="l" rtl="0" latinLnBrk="0">
              <a:spcBef>
                <a:spcPts val="0"/>
              </a:spcBef>
              <a:spcAft>
                <a:spcPts val="0"/>
              </a:spcAft>
            </a:pPr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00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/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371C94-7BBC-DB51-1B7F-7655B161F3FB}"/>
              </a:ext>
            </a:extLst>
          </p:cNvPr>
          <p:cNvSpPr txBox="1"/>
          <p:nvPr/>
        </p:nvSpPr>
        <p:spPr>
          <a:xfrm>
            <a:off x="450056" y="665817"/>
            <a:ext cx="8562325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endParaRPr lang="pt-BR" sz="1600" b="0" i="0" u="none" strike="noStrike" baseline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SLR: </a:t>
            </a:r>
            <a:r>
              <a:rPr lang="pt-BR" sz="1600" i="1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Sign</a:t>
            </a:r>
            <a:r>
              <a:rPr lang="pt-BR" sz="1600" i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Language</a:t>
            </a:r>
            <a:r>
              <a:rPr lang="pt-BR" sz="1600" i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Recognition</a:t>
            </a:r>
            <a:r>
              <a:rPr lang="pt-BR" sz="1600" i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 em português, Reconhecimento de </a:t>
            </a:r>
            <a:r>
              <a:rPr lang="pt-BR" sz="1600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Lingua</a:t>
            </a: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 de Sinais</a:t>
            </a:r>
          </a:p>
          <a:p>
            <a:pPr marL="628650" lvl="8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Reconhecimento de língua de sinais em vídeo e transcrição em alguma forma de texto (seja glosa ou texto)</a:t>
            </a:r>
          </a:p>
          <a:p>
            <a:pPr marL="628650" lvl="8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Usa Visão Computacional, </a:t>
            </a:r>
            <a:r>
              <a:rPr lang="pt-BR" sz="1600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Mediapipe</a:t>
            </a: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, entre outros</a:t>
            </a:r>
          </a:p>
          <a:p>
            <a:pPr marL="342900" lvl="8">
              <a:spcBef>
                <a:spcPts val="600"/>
              </a:spcBef>
              <a:buClr>
                <a:schemeClr val="accent1">
                  <a:lumMod val="50000"/>
                </a:schemeClr>
              </a:buClr>
            </a:pPr>
            <a:endParaRPr lang="pt-BR" sz="160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  <a:sym typeface="Wingdings" panose="05000000000000000000" pitchFamily="2" charset="2"/>
            </a:endParaRPr>
          </a:p>
          <a:p>
            <a:pPr marL="342900" lvl="8">
              <a:spcBef>
                <a:spcPts val="600"/>
              </a:spcBef>
              <a:buClr>
                <a:schemeClr val="accent1">
                  <a:lumMod val="50000"/>
                </a:schemeClr>
              </a:buClr>
            </a:pPr>
            <a:endParaRPr lang="pt-BR" sz="160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285750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1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SLT: </a:t>
            </a:r>
            <a:r>
              <a:rPr lang="pt-BR" sz="1600" i="1" noProof="0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Sign</a:t>
            </a:r>
            <a:r>
              <a:rPr lang="pt-BR" sz="1600" i="1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i="1" noProof="0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Language</a:t>
            </a:r>
            <a:r>
              <a:rPr lang="pt-BR" sz="1600" i="1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Translation </a:t>
            </a:r>
            <a:r>
              <a:rPr lang="pt-BR" sz="160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 em português, </a:t>
            </a:r>
            <a:r>
              <a:rPr lang="pt-BR" sz="1600" noProof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Tradução de Língua de Sinais</a:t>
            </a:r>
          </a:p>
          <a:p>
            <a:pPr marL="628650" lvl="8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Tradução de algum tipo de dado de entrada da Língua de Sinais (seja vídeo ou glosa) para um texto de saída em língua oral</a:t>
            </a:r>
          </a:p>
          <a:p>
            <a:pPr marL="285750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pt-BR" sz="1600" b="1" i="0" u="none" strike="noStrike" baseline="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SLP:</a:t>
            </a:r>
            <a:r>
              <a:rPr lang="pt-BR" sz="1600" b="1" i="0" u="none" strike="noStrike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b="0" i="1" u="none" strike="noStrike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Sign</a:t>
            </a:r>
            <a:r>
              <a:rPr lang="pt-BR" sz="1600" b="0" i="1" u="none" strike="noStrike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b="0" i="1" u="none" strike="noStrike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Language</a:t>
            </a:r>
            <a:r>
              <a:rPr lang="pt-BR" sz="1600" b="0" i="1" u="none" strike="noStrike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b="0" i="1" u="none" strike="noStrike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Production</a:t>
            </a:r>
            <a:r>
              <a:rPr lang="pt-BR" sz="1600" b="0" i="1" u="none" strike="noStrike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 </a:t>
            </a:r>
            <a:r>
              <a:rPr lang="pt-BR" sz="1600" b="0" u="none" strike="noStrike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 em português, Produção de </a:t>
            </a:r>
            <a:r>
              <a:rPr lang="pt-BR" sz="1600" b="0" u="none" strike="noStrike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Lingua</a:t>
            </a:r>
            <a:r>
              <a:rPr lang="pt-BR" sz="1600" b="0" u="none" strike="noStrike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 de Sinais</a:t>
            </a:r>
          </a:p>
          <a:p>
            <a:pPr marL="628650" lvl="8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Tradução ou </a:t>
            </a:r>
            <a:r>
              <a:rPr lang="pt-BR" sz="1600" dirty="0" err="1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Augumentação</a:t>
            </a: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 de Dados partindo da língua oral para a língua de sinais </a:t>
            </a:r>
          </a:p>
          <a:p>
            <a:pPr marL="628650" lvl="8" indent="-285750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  <a:sym typeface="Wingdings" panose="05000000000000000000" pitchFamily="2" charset="2"/>
              </a:rPr>
              <a:t>Saída em vídeo, acompanhado de anotações (que podem ser em glosa)</a:t>
            </a:r>
            <a:endParaRPr lang="pt-BR" sz="1600" dirty="0">
              <a:solidFill>
                <a:schemeClr val="bg1"/>
              </a:solidFill>
              <a:latin typeface="Catamaran" panose="020B0604020202020204" charset="0"/>
              <a:cs typeface="Catamaran" panose="020B0604020202020204" charset="0"/>
            </a:endParaRPr>
          </a:p>
          <a:p>
            <a:pPr marL="457200" algn="l" rtl="0" latinLnBrk="0">
              <a:spcBef>
                <a:spcPts val="600"/>
              </a:spcBef>
              <a:spcAft>
                <a:spcPts val="0"/>
              </a:spcAft>
            </a:pPr>
            <a:endParaRPr lang="pt-BR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0" y="4857439"/>
            <a:ext cx="1768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</a:t>
            </a:r>
            <a:r>
              <a:rPr lang="en-US" sz="1200" dirty="0"/>
              <a:t>KIM; KIM, 2023</a:t>
            </a:r>
            <a:r>
              <a:rPr lang="pt-BR" sz="1200" dirty="0"/>
              <a:t> </a:t>
            </a:r>
            <a:endParaRPr lang="en-US" sz="12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069AAB-C084-1EB5-A143-479933E28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312" y="1635955"/>
            <a:ext cx="3407338" cy="1222770"/>
          </a:xfrm>
          <a:prstGeom prst="rect">
            <a:avLst/>
          </a:prstGeom>
        </p:spPr>
      </p:pic>
      <p:sp>
        <p:nvSpPr>
          <p:cNvPr id="5" name="Google Shape;773;p20">
            <a:extLst>
              <a:ext uri="{FF2B5EF4-FFF2-40B4-BE49-F238E27FC236}">
                <a16:creationId xmlns:a16="http://schemas.microsoft.com/office/drawing/2014/main" id="{7E3149D4-CB4D-EC2E-57C1-E74051C21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1. Introdução</a:t>
            </a:r>
          </a:p>
        </p:txBody>
      </p:sp>
    </p:spTree>
    <p:extLst>
      <p:ext uri="{BB962C8B-B14F-4D97-AF65-F5344CB8AC3E}">
        <p14:creationId xmlns:p14="http://schemas.microsoft.com/office/powerpoint/2010/main" val="173275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/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grpSp>
        <p:nvGrpSpPr>
          <p:cNvPr id="2" name="Agrupar 1"/>
          <p:cNvGrpSpPr/>
          <p:nvPr/>
        </p:nvGrpSpPr>
        <p:grpSpPr>
          <a:xfrm>
            <a:off x="444225" y="1569258"/>
            <a:ext cx="8255550" cy="2729400"/>
            <a:chOff x="1557459" y="3161035"/>
            <a:chExt cx="5924329" cy="1958667"/>
          </a:xfrm>
        </p:grpSpPr>
        <p:sp>
          <p:nvSpPr>
            <p:cNvPr id="3" name="Retângulo Arredondado 2"/>
            <p:cNvSpPr/>
            <p:nvPr/>
          </p:nvSpPr>
          <p:spPr>
            <a:xfrm>
              <a:off x="1557459" y="3860012"/>
              <a:ext cx="1557092" cy="5643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Língua de Sinais</a:t>
              </a:r>
              <a:br>
                <a:rPr lang="pt-BR" sz="1600" b="1" dirty="0"/>
              </a:br>
              <a:r>
                <a:rPr lang="pt-BR" sz="1600" b="1" dirty="0"/>
                <a:t>(Vídeo)</a:t>
              </a:r>
              <a:endParaRPr lang="en-US" sz="1600" b="1" dirty="0"/>
            </a:p>
          </p:txBody>
        </p:sp>
        <p:sp>
          <p:nvSpPr>
            <p:cNvPr id="8" name="Retângulo Arredondado 7"/>
            <p:cNvSpPr/>
            <p:nvPr/>
          </p:nvSpPr>
          <p:spPr>
            <a:xfrm>
              <a:off x="3741077" y="3860012"/>
              <a:ext cx="1557093" cy="5643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Glosa (Interlíngua)</a:t>
              </a:r>
              <a:br>
                <a:rPr lang="pt-BR" sz="1600" b="1" dirty="0"/>
              </a:br>
              <a:r>
                <a:rPr lang="pt-BR" sz="1600" b="1" dirty="0"/>
                <a:t>de Língua de Sinais</a:t>
              </a:r>
              <a:endParaRPr lang="en-US" sz="1600" b="1" dirty="0"/>
            </a:p>
          </p:txBody>
        </p:sp>
        <p:sp>
          <p:nvSpPr>
            <p:cNvPr id="9" name="Retângulo Arredondado 8"/>
            <p:cNvSpPr/>
            <p:nvPr/>
          </p:nvSpPr>
          <p:spPr>
            <a:xfrm>
              <a:off x="5924695" y="3860012"/>
              <a:ext cx="1557093" cy="5643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Texto Formal</a:t>
              </a:r>
              <a:br>
                <a:rPr lang="pt-BR" sz="1600" b="1" dirty="0"/>
              </a:br>
              <a:r>
                <a:rPr lang="pt-BR" sz="1600" b="1" dirty="0"/>
                <a:t>em Língua Oral</a:t>
              </a:r>
              <a:endParaRPr lang="en-US" sz="1600" b="1" dirty="0"/>
            </a:p>
          </p:txBody>
        </p:sp>
        <p:sp>
          <p:nvSpPr>
            <p:cNvPr id="4" name="Seta em Curva para Baixo 3"/>
            <p:cNvSpPr/>
            <p:nvPr/>
          </p:nvSpPr>
          <p:spPr>
            <a:xfrm>
              <a:off x="2350293" y="3436142"/>
              <a:ext cx="2100264" cy="357187"/>
            </a:xfrm>
            <a:prstGeom prst="curved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3" name="Seta em Curva para Baixo 12"/>
            <p:cNvSpPr/>
            <p:nvPr/>
          </p:nvSpPr>
          <p:spPr>
            <a:xfrm>
              <a:off x="2016918" y="3164679"/>
              <a:ext cx="4983957" cy="654743"/>
            </a:xfrm>
            <a:prstGeom prst="curved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6" name="Seta em Curva para Baixo 15"/>
            <p:cNvSpPr/>
            <p:nvPr/>
          </p:nvSpPr>
          <p:spPr>
            <a:xfrm rot="10800000">
              <a:off x="1958578" y="4464958"/>
              <a:ext cx="4983957" cy="654743"/>
            </a:xfrm>
            <a:prstGeom prst="curved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5" name="Elipse 4"/>
            <p:cNvSpPr/>
            <p:nvPr/>
          </p:nvSpPr>
          <p:spPr>
            <a:xfrm>
              <a:off x="2995638" y="3436147"/>
              <a:ext cx="792956" cy="35718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SLR</a:t>
              </a:r>
              <a:endParaRPr lang="en-US" sz="1600" b="1" dirty="0"/>
            </a:p>
          </p:txBody>
        </p:sp>
        <p:sp>
          <p:nvSpPr>
            <p:cNvPr id="17" name="Elipse 16"/>
            <p:cNvSpPr/>
            <p:nvPr/>
          </p:nvSpPr>
          <p:spPr>
            <a:xfrm>
              <a:off x="4054078" y="4762515"/>
              <a:ext cx="792956" cy="35718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SLP</a:t>
              </a:r>
              <a:endParaRPr lang="en-US" sz="1600" b="1" dirty="0"/>
            </a:p>
          </p:txBody>
        </p:sp>
        <p:sp>
          <p:nvSpPr>
            <p:cNvPr id="19" name="Elipse 18"/>
            <p:cNvSpPr/>
            <p:nvPr/>
          </p:nvSpPr>
          <p:spPr>
            <a:xfrm>
              <a:off x="4054078" y="3161035"/>
              <a:ext cx="792956" cy="35718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SLT</a:t>
              </a:r>
              <a:endParaRPr lang="en-US" sz="1600" b="1" dirty="0"/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EF06F0-D1B3-C300-C50E-5F09927EC551}"/>
              </a:ext>
            </a:extLst>
          </p:cNvPr>
          <p:cNvSpPr txBox="1"/>
          <p:nvPr/>
        </p:nvSpPr>
        <p:spPr>
          <a:xfrm>
            <a:off x="2435761" y="1679628"/>
            <a:ext cx="1205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Sign2Gloss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7FCE38-4A0C-0C34-B5D3-88D118034177}"/>
              </a:ext>
            </a:extLst>
          </p:cNvPr>
          <p:cNvSpPr txBox="1"/>
          <p:nvPr/>
        </p:nvSpPr>
        <p:spPr>
          <a:xfrm>
            <a:off x="3577420" y="889471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/>
              <a:t>Sign2Gloss2Text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/>
              <a:t>Sign2Text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/>
              <a:t>Sign2(</a:t>
            </a:r>
            <a:r>
              <a:rPr lang="pt-BR" sz="1200" b="1" dirty="0" err="1"/>
              <a:t>Gloss+Text</a:t>
            </a:r>
            <a:r>
              <a:rPr lang="pt-BR" sz="1200" b="1" dirty="0"/>
              <a:t>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49773F-04A2-C034-18B9-1A7F51562BE2}"/>
              </a:ext>
            </a:extLst>
          </p:cNvPr>
          <p:cNvSpPr txBox="1"/>
          <p:nvPr/>
        </p:nvSpPr>
        <p:spPr>
          <a:xfrm>
            <a:off x="3708556" y="4355220"/>
            <a:ext cx="1721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/>
              <a:t>Text2Sign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/>
              <a:t>Gloss2Sign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 dirty="0"/>
              <a:t>Text2Gloss2Sign</a:t>
            </a:r>
          </a:p>
        </p:txBody>
      </p:sp>
      <p:sp>
        <p:nvSpPr>
          <p:cNvPr id="6" name="Google Shape;773;p20">
            <a:extLst>
              <a:ext uri="{FF2B5EF4-FFF2-40B4-BE49-F238E27FC236}">
                <a16:creationId xmlns:a16="http://schemas.microsoft.com/office/drawing/2014/main" id="{9C811FFC-4870-9AA8-E37B-9931F8DD2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1. Introdução</a:t>
            </a:r>
          </a:p>
        </p:txBody>
      </p:sp>
    </p:spTree>
    <p:extLst>
      <p:ext uri="{BB962C8B-B14F-4D97-AF65-F5344CB8AC3E}">
        <p14:creationId xmlns:p14="http://schemas.microsoft.com/office/powerpoint/2010/main" val="370105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29A34532-2865-FF07-A1DB-7B9C98BD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521FFC4B-FF05-EE3D-AE90-2219FEBB54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65D9E670-8251-3C9F-BDD6-CDC03D614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2. Métodos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5F6153E-22C8-5540-AF1C-3B2AF73BC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854" y="851300"/>
            <a:ext cx="5152445" cy="371851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A632A9F-7AF4-D057-38A4-04CEDA5F6C91}"/>
              </a:ext>
            </a:extLst>
          </p:cNvPr>
          <p:cNvSpPr txBox="1"/>
          <p:nvPr/>
        </p:nvSpPr>
        <p:spPr>
          <a:xfrm>
            <a:off x="200891" y="1247600"/>
            <a:ext cx="36021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000" dirty="0"/>
              <a:t>Framework Encoder/Decoder</a:t>
            </a:r>
          </a:p>
          <a:p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Camadas de incorporação espacial e de palavras, que mapeiam os quadros de vídeo em língua de sinais e o texto falado em vetores de características ou vetores densos, respectivamente.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Uma camada de tokenização, que tokeniza os vetores de características.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O módulo codificador-decodificador, que prevê o texto falado e ajusta os parâmetros de rede por meio de retropropagação para reduzir a diferença entre o texto de destino e o texto gerado.</a:t>
            </a:r>
            <a:endParaRPr lang="pt-BR" sz="1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E0672F-53E2-C57C-610E-F4D70FB4F5D9}"/>
              </a:ext>
            </a:extLst>
          </p:cNvPr>
          <p:cNvSpPr txBox="1"/>
          <p:nvPr/>
        </p:nvSpPr>
        <p:spPr>
          <a:xfrm>
            <a:off x="55418" y="4735278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Sign Language Translation: A Survey of Approaches and Techniques/ 2023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58999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DCD19976-3DF8-46FB-C0BE-D3B71367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A37A6261-D787-EAED-8BF4-DEEA912A27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574FDB44-6047-D602-FF45-884640952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3. Métodos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82C5A2-045B-F10E-EB06-4608B3EE0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017" y="18436"/>
            <a:ext cx="4997983" cy="44139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D4C04D7-B3DD-8855-4002-79371525FBFE}"/>
              </a:ext>
            </a:extLst>
          </p:cNvPr>
          <p:cNvSpPr txBox="1"/>
          <p:nvPr/>
        </p:nvSpPr>
        <p:spPr>
          <a:xfrm>
            <a:off x="381000" y="1009037"/>
            <a:ext cx="3546764" cy="301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 </a:t>
            </a:r>
            <a:r>
              <a:rPr lang="pt-BR" sz="1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Transformer</a:t>
            </a:r>
            <a:endParaRPr lang="pt-BR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Aptos" panose="020B0004020202020204" pitchFamily="34" charset="0"/>
              <a:buChar char="•"/>
            </a:pPr>
            <a:r>
              <a:rPr lang="pt-PT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Primeiramente, a informação visual é obtida por meio de estruturas como S3D, OpenPose, VGGNet  e STMC , e passa por incorporação espacial. </a:t>
            </a:r>
            <a:endParaRPr lang="pt-BR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Aptos" panose="020B0004020202020204" pitchFamily="34" charset="0"/>
              <a:buChar char="•"/>
            </a:pPr>
            <a:r>
              <a:rPr lang="pt-PT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 seguida, a representação semântica da informação visual e textual entra nos módulos codificadores N, com base nos mecanismos de autoatenção dos transformers. </a:t>
            </a:r>
            <a:endParaRPr lang="pt-BR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Aptos" panose="020B0004020202020204" pitchFamily="34" charset="0"/>
              <a:buChar char="•"/>
            </a:pPr>
            <a:r>
              <a:rPr lang="pt-PT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módulo decodificador, a entrada de incorporações de palavras entra em um módulo de atenção multicabeçalho mascarado, com o mascaramento indicando o uso apenas de tokens existentes na extração de informações contextuais para evitar o sobreajuste do modelo. </a:t>
            </a:r>
            <a:endParaRPr lang="pt-BR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•"/>
            </a:pPr>
            <a:r>
              <a:rPr lang="pt-PT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 fim, as palavras previstas são geradas por meio de uma camada softmax.</a:t>
            </a:r>
            <a:endParaRPr lang="pt-BR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773;p20">
            <a:extLst>
              <a:ext uri="{FF2B5EF4-FFF2-40B4-BE49-F238E27FC236}">
                <a16:creationId xmlns:a16="http://schemas.microsoft.com/office/drawing/2014/main" id="{CC68AA02-2E06-593F-061D-CAAB2A41704B}"/>
              </a:ext>
            </a:extLst>
          </p:cNvPr>
          <p:cNvSpPr txBox="1">
            <a:spLocks/>
          </p:cNvSpPr>
          <p:nvPr/>
        </p:nvSpPr>
        <p:spPr>
          <a:xfrm>
            <a:off x="791602" y="405337"/>
            <a:ext cx="6660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tamaran"/>
              <a:buNone/>
              <a:defRPr sz="2000" b="1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r>
              <a:rPr lang="pt-BR" sz="2200"/>
              <a:t>2. Métodos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60F9A3-8D62-DE6E-B853-B1E81209BCF1}"/>
              </a:ext>
            </a:extLst>
          </p:cNvPr>
          <p:cNvSpPr txBox="1"/>
          <p:nvPr/>
        </p:nvSpPr>
        <p:spPr>
          <a:xfrm>
            <a:off x="152400" y="4738163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Sign Language Translation: A Survey of Approaches and Techniques/ 2023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99731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/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0A92344-50C8-4CFC-AC08-4697B9811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2. Métodos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0DD2B61-D13C-13DB-767B-5B16AC2F1462}"/>
              </a:ext>
            </a:extLst>
          </p:cNvPr>
          <p:cNvSpPr txBox="1"/>
          <p:nvPr/>
        </p:nvSpPr>
        <p:spPr>
          <a:xfrm>
            <a:off x="976744" y="1332693"/>
            <a:ext cx="7765473" cy="294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Melhorando o desempenho do SLR</a:t>
            </a:r>
            <a:r>
              <a:rPr lang="pt-BR" sz="1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D304DF-F921-939F-BA4B-67A49DBA9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44" y="1953462"/>
            <a:ext cx="6602717" cy="223490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7599B18-932B-9F20-61D9-1366E138A8AD}"/>
              </a:ext>
            </a:extLst>
          </p:cNvPr>
          <p:cNvSpPr txBox="1"/>
          <p:nvPr/>
        </p:nvSpPr>
        <p:spPr>
          <a:xfrm>
            <a:off x="90054" y="4459961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Sign Language Translation: A Survey of Approaches and Techniques/ 2023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313514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A3209802-3835-75AB-56FA-068A3DA34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FBA49CC8-6898-C3CE-6EA6-CADE2613AB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8E70C34-0933-BAFC-5B5A-82ACA130B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50" y="220432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2. Métodos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5C49A0-DBDE-8FE6-DE75-A4B9BDA8C0B3}"/>
              </a:ext>
            </a:extLst>
          </p:cNvPr>
          <p:cNvSpPr txBox="1"/>
          <p:nvPr/>
        </p:nvSpPr>
        <p:spPr>
          <a:xfrm>
            <a:off x="660830" y="616732"/>
            <a:ext cx="8208819" cy="752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Estrutura de Rede para Melhorar o Desempenho da Tradução (SLT)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1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melhorar o desempenho do SLT, muitos pesquisadores propuseram várias estruturas de rede avançadas para capturar informações semânticas visuais e textuais profundas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1BEF96-9490-5395-3B13-56F9AD65D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30" y="1288473"/>
            <a:ext cx="7848031" cy="384322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464DE67-E203-FF31-4FB8-7D2D33E2D064}"/>
              </a:ext>
            </a:extLst>
          </p:cNvPr>
          <p:cNvSpPr txBox="1"/>
          <p:nvPr/>
        </p:nvSpPr>
        <p:spPr>
          <a:xfrm>
            <a:off x="193239" y="4923068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Sign Language Translation: A Survey of Approaches and Techniques/ 2023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23570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6670E431-589E-A138-703E-766F15EB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4D2047DB-31DA-0121-F4CF-5B1125B64A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A258877A-F116-FCBF-420A-4EC21C25E2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50" y="220432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2. Métodos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2A1DBF-3511-B550-C8B9-FE2FA0DEC273}"/>
              </a:ext>
            </a:extLst>
          </p:cNvPr>
          <p:cNvSpPr txBox="1"/>
          <p:nvPr/>
        </p:nvSpPr>
        <p:spPr>
          <a:xfrm>
            <a:off x="660830" y="616732"/>
            <a:ext cx="8208819" cy="38631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4999"/>
              </a:lnSpc>
              <a:spcAft>
                <a:spcPts val="800"/>
              </a:spcAft>
            </a:pPr>
            <a:r>
              <a:rPr lang="pt-BR" sz="1200" b="1" kern="100" dirty="0">
                <a:latin typeface="Aptos"/>
                <a:cs typeface="Times New Roman"/>
              </a:rPr>
              <a:t>Na figura a seguir (SHARIN e ISMAIL 2024, p.33) temos uma comparação entre diferentes algoritmos de Tradução de Máquina para Línguas de Sinais, baseados no </a:t>
            </a:r>
            <a:r>
              <a:rPr lang="pt-BR" sz="1200" b="1" i="1" kern="100" err="1">
                <a:latin typeface="Aptos"/>
                <a:cs typeface="Times New Roman"/>
              </a:rPr>
              <a:t>Dataset</a:t>
            </a:r>
            <a:r>
              <a:rPr lang="pt-BR" sz="1200" b="1" i="1" kern="100" dirty="0">
                <a:latin typeface="Aptos"/>
                <a:cs typeface="Times New Roman"/>
              </a:rPr>
              <a:t> </a:t>
            </a:r>
            <a:r>
              <a:rPr lang="pt-BR" sz="1200" b="1" kern="100" dirty="0">
                <a:latin typeface="Aptos"/>
                <a:cs typeface="Times New Roman"/>
              </a:rPr>
              <a:t>Phoenix-2014T.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m 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67896E31-2F31-F5B9-592A-5C522798D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61" y="1220618"/>
            <a:ext cx="7622931" cy="30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0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/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0A92344-50C8-4CFC-AC08-4697B9811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3. Banco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B575C7-C315-C338-7BDC-C6223CF2565B}"/>
              </a:ext>
            </a:extLst>
          </p:cNvPr>
          <p:cNvSpPr txBox="1"/>
          <p:nvPr/>
        </p:nvSpPr>
        <p:spPr>
          <a:xfrm>
            <a:off x="180109" y="718955"/>
            <a:ext cx="8548255" cy="442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RWTH-PHOENIX-Weather 2014T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é o conjunto de dados mais amplamente utilizado, comparado pela maioria dos modelos de base em SLT. O PHOENIX14T consiste em vídeos em língua de sinais alemã, glosas em língua de sinais e texto falado. O PHOENIX14T é segmentado em frases paralelas, onde cada vídeo em alemão (composto por múltiplos quadros de língua de sinais) corresponde a múltiplas glosas e frases em alemão. O tamanho do vocabulário do glossário é 1066, e o tamanho do vocabulário do texto em língua falada em alemão é 2887. Os visuais do PHOENIX14T foram obtidos de notícias meteorológicas alemãs, enquanto as anotações em língua de sinais alemã foram fornecidas por especialistas surdos e o texto em alemão foi obtido de locutores de notícias</a:t>
            </a: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CSL-Daily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é um renomado conjunto de dados de língua de sinais para a TLS chinesa. Ele abrange diversos temas, como vida familiar, vida escolar, assistência médica, etc. O conjunto de dados CSL-Daily inclui vídeos em língua de sinais de 10 sinalizadores nativos, cujas expressões de sinais são normativas e naturais. O vocabulário de glosas de sinais neste conjunto de dados consiste em 2.000 palavras, e o vocabulário de texto falado em chinês consiste em 2.343 palavras, criadas sob a orientação de especialistas em linguística de língua de sinais e professores de língua de sinais..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Spreadthesign-Ten</a:t>
            </a: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(SP-10) 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 um conjunto de dados multilíngue de língua de sinais para SLR. Os vídeos em língua de sinais e os textos correspondentes do SP-10 foram coletados de 10 idiomas diferentes. Cada ponto de dados do SP-10 inclui 10 vídeos em língua de sinais e 10 textos traduzidos em língua falada. </a:t>
            </a: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ASLG-PC12  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 um conjunto de dados de língua de sinais dos EUA criado 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semi-automaticamente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usando métodos baseados em regras, e o conjunto de dados não inclui vídeos em língua de sinais. O ASLG-PC12 contém um grande número de pares glossário-texto e pode ser empregado para a tarefa de G2T. O tamanho do vocabulário do texto falado e do glossário de sinais americanos é de 21.600 e 15.782, respectivamente.</a:t>
            </a:r>
          </a:p>
        </p:txBody>
      </p:sp>
    </p:spTree>
    <p:extLst>
      <p:ext uri="{BB962C8B-B14F-4D97-AF65-F5344CB8AC3E}">
        <p14:creationId xmlns:p14="http://schemas.microsoft.com/office/powerpoint/2010/main" val="269631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/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0A92344-50C8-4CFC-AC08-4697B9811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3. Banco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B575C7-C315-C338-7BDC-C6223CF2565B}"/>
              </a:ext>
            </a:extLst>
          </p:cNvPr>
          <p:cNvSpPr txBox="1"/>
          <p:nvPr/>
        </p:nvSpPr>
        <p:spPr>
          <a:xfrm>
            <a:off x="235527" y="1297145"/>
            <a:ext cx="8548255" cy="93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DGS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todos os recursos são acessíveis publicamente por meio de dois formatos. O artigo se concentrará no segundo, MY DGS-</a:t>
            </a:r>
            <a:r>
              <a:rPr lang="pt-BR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annotated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Os dados foram extraídos por meio do formato ELAN5 dos arquivos. A versão final do corpus consiste em 63.908 pares de frases paralelas</a:t>
            </a:r>
            <a:r>
              <a:rPr lang="pt-B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pt-BR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anotações de glosas do corpus DGS são muito mais complexas e abrangentes do que as do corpus PHOENIX14T.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3613B-745D-3545-0CE7-18C2D0ACBB2D}"/>
              </a:ext>
            </a:extLst>
          </p:cNvPr>
          <p:cNvSpPr txBox="1"/>
          <p:nvPr/>
        </p:nvSpPr>
        <p:spPr>
          <a:xfrm>
            <a:off x="450272" y="2371695"/>
            <a:ext cx="7813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000" dirty="0"/>
              <a:t>O DGS é o resultado de um projeto de longo prazo, conduzido no Instituto de Língua Alemã de Sinais e Comunicação de Surdos da Universidade de Hamburgo.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81237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2E582F1B-832C-39E1-182D-49F395E6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80E561D1-DF30-A77B-6C8C-1352FCE7A1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B7327AA-1432-9D28-B666-2184C0125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3.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C8B44F9-B48F-13A0-ECB0-5A29C7BE9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418" y="1186777"/>
            <a:ext cx="3865417" cy="33176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30DCCC0-9525-67B3-35D5-6E6A11068C27}"/>
              </a:ext>
            </a:extLst>
          </p:cNvPr>
          <p:cNvSpPr txBox="1"/>
          <p:nvPr/>
        </p:nvSpPr>
        <p:spPr>
          <a:xfrm>
            <a:off x="865909" y="1082326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/>
              <a:t>DGS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E74FB0-38DC-945A-929A-8BE0B693CF3A}"/>
              </a:ext>
            </a:extLst>
          </p:cNvPr>
          <p:cNvSpPr txBox="1"/>
          <p:nvPr/>
        </p:nvSpPr>
        <p:spPr>
          <a:xfrm>
            <a:off x="5728854" y="1427928"/>
            <a:ext cx="3075710" cy="2835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o corpus paralelo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P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 anotação dos vídeos em língua de sinais é estruturada em canais paralelos, os “tiers”. Os “tiers” que foram  utilizados  para formar os pares de frases paralelas são aqueles que contêm as frases em alemão para cada </a:t>
            </a:r>
            <a:r>
              <a:rPr lang="pt-PT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sinalizador</a:t>
            </a:r>
            <a:r>
              <a:rPr lang="pt-PT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aqueles que contêm as glosas para a mão direita e para a mão esquerda de cada signatário. 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PT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texto trata de problemas para tratar as “tiers”, como sobreposição de sinais por exemplo.</a:t>
            </a:r>
            <a:endParaRPr lang="pt-BR" sz="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7C0CC33-104C-E9FC-4B16-6CA3EAAD55CC}"/>
              </a:ext>
            </a:extLst>
          </p:cNvPr>
          <p:cNvSpPr txBox="1"/>
          <p:nvPr/>
        </p:nvSpPr>
        <p:spPr>
          <a:xfrm>
            <a:off x="325581" y="468850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Using Neural Machine Translation Methods for Sign Language Translation/ 2022 </a:t>
            </a:r>
          </a:p>
        </p:txBody>
      </p:sp>
    </p:spTree>
    <p:extLst>
      <p:ext uri="{BB962C8B-B14F-4D97-AF65-F5344CB8AC3E}">
        <p14:creationId xmlns:p14="http://schemas.microsoft.com/office/powerpoint/2010/main" val="2795312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E8164723-5276-A9C5-6A15-E88737E8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D31A0D69-6261-297E-63F4-6057B62DFA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CAAC0D9C-FB6E-0675-9CC7-900DD5D11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3.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E5152F-C421-BA96-5B11-D1F82F269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9" y="1747322"/>
            <a:ext cx="8970641" cy="26665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DE69F49-BDCD-CC6F-9B25-552A1A40BE49}"/>
              </a:ext>
            </a:extLst>
          </p:cNvPr>
          <p:cNvSpPr txBox="1"/>
          <p:nvPr/>
        </p:nvSpPr>
        <p:spPr>
          <a:xfrm>
            <a:off x="154470" y="468850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Sign Language Translation: A Survey of Approaches and Techniques/ 2023 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45934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8873A373-9385-6748-BBCE-CC5471E07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864C198D-40C9-F910-F924-A18B73D08F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538CA6C3-DF63-C91E-F297-51057C6DB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3.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056E8A-4502-8FC0-4550-A7F8CFD0CD3E}"/>
              </a:ext>
            </a:extLst>
          </p:cNvPr>
          <p:cNvSpPr txBox="1"/>
          <p:nvPr/>
        </p:nvSpPr>
        <p:spPr>
          <a:xfrm>
            <a:off x="561439" y="823797"/>
            <a:ext cx="8208819" cy="38631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4999"/>
              </a:lnSpc>
              <a:spcAft>
                <a:spcPts val="800"/>
              </a:spcAft>
            </a:pPr>
            <a:r>
              <a:rPr lang="pt-BR" sz="1200" b="1" kern="100" dirty="0">
                <a:latin typeface="Aptos"/>
                <a:cs typeface="Times New Roman"/>
              </a:rPr>
              <a:t>Na figura a seguir (SHARIN e ISMAIL 2024, p.16) temos um gráfico para ilustrar a frequência e a média de vídeos por </a:t>
            </a:r>
            <a:r>
              <a:rPr lang="pt-BR" sz="1200" b="1" kern="100" dirty="0" err="1">
                <a:latin typeface="Aptos"/>
                <a:cs typeface="Times New Roman"/>
              </a:rPr>
              <a:t>Dataset</a:t>
            </a:r>
            <a:r>
              <a:rPr lang="pt-BR" sz="1200" b="1" kern="100" dirty="0">
                <a:latin typeface="Aptos"/>
                <a:cs typeface="Times New Roman"/>
              </a:rPr>
              <a:t>, de diferentes línguas de sinais, encontrados em domínio público. 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BR" sz="1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m 4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5CFF1BAE-5FE0-AD2E-D4E7-417559BF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261" y="1454700"/>
            <a:ext cx="6692348" cy="312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77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42346F4C-E786-EC3B-2E06-CB4D3385D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3A491935-D96B-12C3-8AF4-A7D2A27738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9C3A3B2F-7F35-EDFF-1CAF-7DB42B46E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4. Métricas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64A804-B4F1-1012-255C-8371BF2FDEBC}"/>
              </a:ext>
            </a:extLst>
          </p:cNvPr>
          <p:cNvSpPr txBox="1"/>
          <p:nvPr/>
        </p:nvSpPr>
        <p:spPr>
          <a:xfrm>
            <a:off x="450273" y="1089913"/>
            <a:ext cx="809105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O WER é uma métrica de avaliação da PNL, que se refere à soma total mínima de sequências de glossário reconhecidas em relação à sequência de referência, incluindo substituições, inserções e exclusões.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O BLEU é uma métrica de avaliação renomada empregada para SLT e avalia o desempenho de cada modelo por meio da similaridade do texto gerado e de uma tradução de referência. A pontuação BLEU é calculada computando-se a frequência de n-gramas compartilhados  entre o texto previsto e a frase de referência, com pontuações variando de zero a um para indicar o grau de similaridade. A pontuação BLEU é um se o texto previsto e a frase de referência forem completamente semelhantes. Dependendo do comprimento dos n-gramas, o BLEU é dividido em BLEU-1, BLEU-2, BLEU-3 e BLEU-4.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O índice ROUGE avalia o desempenho da tradução medindo o grau de correspondência entre os resultados previstos e de referência e difere do BLEU por enfatizar o índice de recordação em vez do índice de precisão para avaliar a qualidade da tradução.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O METEOR utiliza o WordNet e combina diversas métricas de avaliação, como correspondência de palavras, correspondência de ordem de palavras, correspondência de sinonímia, correspondência de radicais e correspondência de sintagmas nominais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4716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2D2234B2-D67D-0299-49CB-C721CF6FF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">
            <a:extLst>
              <a:ext uri="{FF2B5EF4-FFF2-40B4-BE49-F238E27FC236}">
                <a16:creationId xmlns:a16="http://schemas.microsoft.com/office/drawing/2014/main" id="{4D135F6C-1C34-F63A-083F-6CDABC5B46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95300" y="4413900"/>
            <a:ext cx="548700" cy="72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 dirty="0"/>
          </a:p>
        </p:txBody>
      </p:sp>
      <p:sp>
        <p:nvSpPr>
          <p:cNvPr id="15" name="Google Shape;773;p20">
            <a:extLst>
              <a:ext uri="{FF2B5EF4-FFF2-40B4-BE49-F238E27FC236}">
                <a16:creationId xmlns:a16="http://schemas.microsoft.com/office/drawing/2014/main" id="{87896D37-47BA-90DF-3EE5-C0D22F6C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1875" y="455000"/>
            <a:ext cx="666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5. Considerações finais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4EAB208-6CF2-3024-1C83-C9C2120EA3DF}"/>
              </a:ext>
            </a:extLst>
          </p:cNvPr>
          <p:cNvSpPr txBox="1"/>
          <p:nvPr/>
        </p:nvSpPr>
        <p:spPr>
          <a:xfrm>
            <a:off x="321395" y="975626"/>
            <a:ext cx="8548255" cy="34456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4999"/>
              </a:lnSpc>
              <a:spcAft>
                <a:spcPts val="800"/>
              </a:spcAft>
            </a:pPr>
            <a:r>
              <a:rPr lang="pt-PT" b="1" dirty="0">
                <a:solidFill>
                  <a:schemeClr val="bg1"/>
                </a:solidFill>
              </a:rPr>
              <a:t>Existem várias direções viáveis para atingir bons desempenhos em modelos de SLT e elencamos os tópicos a seguir como relevantes neste sentido: </a:t>
            </a:r>
          </a:p>
          <a:p>
            <a:pPr algn="just">
              <a:lnSpc>
                <a:spcPct val="114999"/>
              </a:lnSpc>
              <a:spcAft>
                <a:spcPts val="800"/>
              </a:spcAft>
            </a:pPr>
            <a:endParaRPr lang="pt-PT" sz="200" b="1" dirty="0">
              <a:solidFill>
                <a:schemeClr val="bg1"/>
              </a:solidFill>
            </a:endParaRPr>
          </a:p>
          <a:p>
            <a:pPr marL="171450" indent="-1714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Prós/contras uso de glosas;</a:t>
            </a:r>
          </a:p>
          <a:p>
            <a:pPr marL="171450" indent="-1714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Transformer X RNN; </a:t>
            </a:r>
          </a:p>
          <a:p>
            <a:pPr marL="171450" indent="-1714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Transfer Learning </a:t>
            </a:r>
            <a:r>
              <a:rPr lang="pt-PT" sz="1200"/>
              <a:t>e Data </a:t>
            </a:r>
            <a:r>
              <a:rPr lang="pt-PT" sz="1200" dirty="0"/>
              <a:t>A</a:t>
            </a:r>
            <a:r>
              <a:rPr lang="pt-PT" sz="1200"/>
              <a:t>ugmentation</a:t>
            </a:r>
            <a:r>
              <a:rPr lang="pt-PT" sz="1200" dirty="0"/>
              <a:t>;</a:t>
            </a:r>
          </a:p>
          <a:p>
            <a:pPr marL="171450" indent="-1714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Poucas bases para comparação de trabalhos na área; </a:t>
            </a:r>
          </a:p>
          <a:p>
            <a:pPr marL="171450" indent="-171450" algn="just">
              <a:lnSpc>
                <a:spcPct val="114999"/>
              </a:lnSpc>
              <a:spcAft>
                <a:spcPts val="800"/>
              </a:spcAft>
              <a:buFont typeface="Arial,Sans-Serif" panose="020B0604020202020204" pitchFamily="34" charset="0"/>
              <a:buChar char="•"/>
            </a:pPr>
            <a:r>
              <a:rPr lang="pt-PT" sz="1200" dirty="0">
                <a:solidFill>
                  <a:schemeClr val="bg1"/>
                </a:solidFill>
              </a:rPr>
              <a:t>Pesquisa para o uso adequado de métricas de avaliação de processos de tradução para diferentes arquiteturas;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Soluções de longo prazo e</a:t>
            </a:r>
          </a:p>
          <a:p>
            <a:pPr marL="171450" indent="-1714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1200" dirty="0"/>
              <a:t>Próximas etapas da RSL?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PT" sz="1200" dirty="0"/>
              <a:t>No entanto, o passo final para melhorar o desempenho da tradução por meio desses métodos é tornar as inovações direcionadas adequadas ao domínio da SLT, o que pode ser o aspecto mais importante da melhoria do desempenho.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15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596180"/>
      </p:ext>
    </p:extLst>
  </p:cSld>
  <p:clrMapOvr>
    <a:masterClrMapping/>
  </p:clrMapOvr>
</p:sld>
</file>

<file path=ppt/theme/theme1.xml><?xml version="1.0" encoding="utf-8"?>
<a:theme xmlns:a="http://schemas.openxmlformats.org/drawingml/2006/main" name="Hubert templa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f974ab-ef67-42c7-b825-59ef488c4f78">
      <Terms xmlns="http://schemas.microsoft.com/office/infopath/2007/PartnerControls"/>
    </lcf76f155ced4ddcb4097134ff3c332f>
    <TaxCatchAll xmlns="73d66298-f534-40aa-91a2-b27578e3792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AD112B3944CC4FAB620F95016A3EF5" ma:contentTypeVersion="12" ma:contentTypeDescription="Crie um novo documento." ma:contentTypeScope="" ma:versionID="ec9880573b2c4aee8d066d590ca06432">
  <xsd:schema xmlns:xsd="http://www.w3.org/2001/XMLSchema" xmlns:xs="http://www.w3.org/2001/XMLSchema" xmlns:p="http://schemas.microsoft.com/office/2006/metadata/properties" xmlns:ns2="d3f974ab-ef67-42c7-b825-59ef488c4f78" xmlns:ns3="73d66298-f534-40aa-91a2-b27578e3792d" targetNamespace="http://schemas.microsoft.com/office/2006/metadata/properties" ma:root="true" ma:fieldsID="602cfa4677bed1b0044c073315ca71a8" ns2:_="" ns3:_="">
    <xsd:import namespace="d3f974ab-ef67-42c7-b825-59ef488c4f78"/>
    <xsd:import namespace="73d66298-f534-40aa-91a2-b27578e379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f974ab-ef67-42c7-b825-59ef488c4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b7a41480-c444-49e9-ba3c-35b3cefaf8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d66298-f534-40aa-91a2-b27578e3792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6262506-83da-4a8d-aa57-bd7c1832d3a0}" ma:internalName="TaxCatchAll" ma:showField="CatchAllData" ma:web="73d66298-f534-40aa-91a2-b27578e379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3EBECC-580F-48FF-AA7B-D280B8C504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02F984-AA97-496C-9F9C-961BDB39BE58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73d66298-f534-40aa-91a2-b27578e3792d"/>
    <ds:schemaRef ds:uri="http://purl.org/dc/dcmitype/"/>
    <ds:schemaRef ds:uri="d3f974ab-ef67-42c7-b825-59ef488c4f78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3F85C8F-AEA4-4D40-BC3E-58FD496E79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f974ab-ef67-42c7-b825-59ef488c4f78"/>
    <ds:schemaRef ds:uri="73d66298-f534-40aa-91a2-b27578e379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5990</TotalTime>
  <Words>1662</Words>
  <Application>Microsoft Office PowerPoint</Application>
  <PresentationFormat>Apresentação na tela (16:9)</PresentationFormat>
  <Paragraphs>143</Paragraphs>
  <Slides>18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Aptos</vt:lpstr>
      <vt:lpstr>Arial,Sans-Serif</vt:lpstr>
      <vt:lpstr>Arial</vt:lpstr>
      <vt:lpstr>Wingdings</vt:lpstr>
      <vt:lpstr>Catamaran</vt:lpstr>
      <vt:lpstr>Catamaran Thin</vt:lpstr>
      <vt:lpstr>Hubert template</vt:lpstr>
      <vt:lpstr>CCD-TAAL</vt:lpstr>
      <vt:lpstr>1. Introdução</vt:lpstr>
      <vt:lpstr>1. Introdução</vt:lpstr>
      <vt:lpstr>1. Introdução</vt:lpstr>
      <vt:lpstr>1. Introdução</vt:lpstr>
      <vt:lpstr>2. Métodos</vt:lpstr>
      <vt:lpstr>3. Métodos</vt:lpstr>
      <vt:lpstr>2. Métodos</vt:lpstr>
      <vt:lpstr>2. Métodos</vt:lpstr>
      <vt:lpstr>2. Métodos</vt:lpstr>
      <vt:lpstr>3. Banco de dados</vt:lpstr>
      <vt:lpstr>3. Banco de dados</vt:lpstr>
      <vt:lpstr>3. Banco de dados</vt:lpstr>
      <vt:lpstr>3. Banco de dados</vt:lpstr>
      <vt:lpstr>3. Banco de dados</vt:lpstr>
      <vt:lpstr>4. Métricas</vt:lpstr>
      <vt:lpstr>5. Considerações finais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vlgava</dc:creator>
  <cp:lastModifiedBy>Vagner Gava</cp:lastModifiedBy>
  <cp:revision>285</cp:revision>
  <dcterms:modified xsi:type="dcterms:W3CDTF">2025-04-30T17:36:26Z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0x010100E1AD112B3944CC4FAB620F95016A3EF5</vt:lpwstr>
  </property>
  <property fmtid="{D5CDD505-2E9C-101B-9397-08002B2CF9AE}" pid="3" name="MediaServiceImageTags">
    <vt:lpwstr/>
  </property>
</Properties>
</file>